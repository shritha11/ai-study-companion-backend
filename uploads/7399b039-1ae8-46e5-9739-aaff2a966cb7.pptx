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20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5C3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29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42416" y="566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SlotForge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2416" y="8686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SCHEDULING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17373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Smarter.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timetable optimization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institutions.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690872"/>
            <a:ext cx="1097280" cy="45720"/>
          </a:xfrm>
          <a:prstGeom prst="rect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53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874520" y="44348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4690872"/>
            <a:ext cx="1097280" cy="45720"/>
          </a:xfrm>
          <a:prstGeom prst="rect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74520" y="4453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91840" y="443484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4690872"/>
            <a:ext cx="1097280" cy="45720"/>
          </a:xfrm>
          <a:prstGeom prst="rect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453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2920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0" y="777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SlotForge — Scheduling Platform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29200" y="1280160"/>
            <a:ext cx="3657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management is one of the most operationally complex tasks in any institution. Balancing teacher availability, room capacities, subject hours, lab dependencies, and section constraints — while eliminating all clashes — scales exponentially with institution size.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SlotForge uses Google OR-Tools CP-SAT, an industry-standard constraint solver, to generate collision-free, optimal timetables automatically. When a schedule is infeasible, its diagnostic engine isolates exactly which constraints conflict — rather than returning a vague failure.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generation, SlotForge is a complete timetable management platform: multi-tenancy, RBAC, version control with draft/publish/archive lifecycle, audit logging, and PDF/Excel/CSV export. A React admin panel and Flutter mobile app deliver scheduling access across every platform.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Tools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" y="154533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TimeEdit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" y="181965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18196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84632" y="202996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208483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Powerful constraints, SIS integrations, multi-campus, mobile access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" y="249631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Enterprise pricing (€1000s/yr), closed-source solver, no version control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10712" y="154533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Celcat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410712" y="181965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18196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410712" y="202996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0712" y="208483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solution for 30+ countries, timetable publication, attendance tracking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10712" y="249631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Steep learning curve, specialist training required, expensive licensing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72200" y="14173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36792" y="154533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25Live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36792" y="181965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18196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336792" y="202996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208483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Comprehensive academic + event scheduling, real-time conflict detection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36792" y="249631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Annual subscriptions $20,000+, designed for large US universities only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31546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4632" y="328269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aSc Timetables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84632" y="355701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" y="35570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84632" y="376732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382219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Affordable one-time license, widely used in schools worldwide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4632" y="423367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Windows desktop-only, no API, no cloud/mobile, no version control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46120" y="31546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410712" y="328269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UniTime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410712" y="355701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10712" y="35570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410712" y="376732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10712" y="382219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Free, used by many universities, highly customizable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410712" y="423367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Extremely complex to self-host, dated UI, steep learning curve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72200" y="31546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336792" y="328269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Spreadsheets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336792" y="3557016"/>
            <a:ext cx="777240" cy="164592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36792" y="35570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336792" y="3767328"/>
            <a:ext cx="2368296" cy="0"/>
          </a:xfrm>
          <a:prstGeom prst="line">
            <a:avLst/>
          </a:prstGeom>
          <a:noFill/>
          <a:ln w="3810">
            <a:solidFill>
              <a:srgbClr val="1A5C3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36792" y="3822192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cost, familiar to all staff, no setup required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36792" y="423367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conflict detection, no optimization, collapses with scale, error-prone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SlotForge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141732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15727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5488" y="1883664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solver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" y="20482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OR-Tools CP-SAT — auditable, not a black box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" y="2368296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Infeasibility diagnostics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" y="25328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exactly which constraints clash, not a vague failure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" y="2852928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Git-style versioning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" y="3017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published → archived lifecycle with full rollback capability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" y="3337560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3300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" y="3502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frontend consumes the API. PDF, Excel, CSV export built-in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" y="3822192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4944" y="39867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Organization-level data isolation built into every query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" y="4306824"/>
            <a:ext cx="146304" cy="146304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" y="4270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Audit logs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" y="44714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action recorded; admin vs. viewer roles separated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49240" y="141732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32120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04688" y="1911096"/>
            <a:ext cx="146304" cy="146304"/>
          </a:xfrm>
          <a:prstGeom prst="ellipse">
            <a:avLst/>
          </a:prstGeom>
          <a:solidFill>
            <a:srgbClr val="E0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4144" y="1874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 integration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24144" y="20848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entered manually — no Banner/PeopleSoft sync yet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504688" y="2660904"/>
            <a:ext cx="146304" cy="146304"/>
          </a:xfrm>
          <a:prstGeom prst="ellipse">
            <a:avLst/>
          </a:prstGeom>
          <a:solidFill>
            <a:srgbClr val="E0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24144" y="2624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academic only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24144" y="28346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attendance tracking, exam scheduling, or event booking yet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04688" y="3410712"/>
            <a:ext cx="146304" cy="146304"/>
          </a:xfrm>
          <a:prstGeom prst="ellipse">
            <a:avLst/>
          </a:prstGeom>
          <a:solidFill>
            <a:srgbClr val="E0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24144" y="33741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setup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724144" y="35844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some technical knowledge — not yet a click-and-go SaaS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504688" y="4160520"/>
            <a:ext cx="146304" cy="146304"/>
          </a:xfrm>
          <a:prstGeom prst="ellipse">
            <a:avLst/>
          </a:prstGeom>
          <a:solidFill>
            <a:srgbClr val="E0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24144" y="4123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not load-tested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24144" y="43342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have years of optimization at 10,000+ student scale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120700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1207008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1252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WEB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572768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 + Ant Design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72768" y="1545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· CRUD · Drag-drop editor · Canvas view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17520" y="1865376"/>
            <a:ext cx="0" cy="91440"/>
          </a:xfrm>
          <a:prstGeom prst="line">
            <a:avLst/>
          </a:prstGeom>
          <a:noFill/>
          <a:ln w="12700">
            <a:solidFill>
              <a:srgbClr val="2D9E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195681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1956816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0025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MOBILE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572768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 (Android)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72768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schedule viewer · Native Material 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17520" y="2615184"/>
            <a:ext cx="0" cy="91440"/>
          </a:xfrm>
          <a:prstGeom prst="line">
            <a:avLst/>
          </a:prstGeom>
          <a:noFill/>
          <a:ln w="12700">
            <a:solidFill>
              <a:srgbClr val="2D9E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27066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2706624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275234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572768" y="2779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572768" y="3044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· Auto OpenAPI docs · JWT middleware · RBAC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17520" y="3364992"/>
            <a:ext cx="0" cy="91440"/>
          </a:xfrm>
          <a:prstGeom prst="line">
            <a:avLst/>
          </a:prstGeom>
          <a:noFill/>
          <a:ln w="12700">
            <a:solidFill>
              <a:srgbClr val="2D9E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345643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" y="3456432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50215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ENGINE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572768" y="3529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CP-SAT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572768" y="3794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· Soft optimization · Infeasibility diagnostics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17520" y="4114800"/>
            <a:ext cx="0" cy="91440"/>
          </a:xfrm>
          <a:prstGeom prst="line">
            <a:avLst/>
          </a:prstGeom>
          <a:noFill/>
          <a:ln w="12700">
            <a:solidFill>
              <a:srgbClr val="2D9E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42062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0040" y="42062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2519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572768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 2.0 + Alembic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572768" y="4544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Row-level isolation by organization_id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89320" y="1207008"/>
            <a:ext cx="2834640" cy="1847088"/>
          </a:xfrm>
          <a:prstGeom prst="roundRect">
            <a:avLst>
              <a:gd name="adj" fmla="val 3960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172200" y="13350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MULTI-TENANCY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17220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JWT verification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Organization-level isolation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org_admin vs viewer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on every mutation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89320" y="315468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172200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&amp; HOSTING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172200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via ReportLab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(XLSX) via openpyxl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plain text export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Railway / Vercel / Supabase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1207008"/>
            <a:ext cx="4160520" cy="3611880"/>
          </a:xfrm>
          <a:prstGeom prst="roundRect">
            <a:avLst>
              <a:gd name="adj" fmla="val 2025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1207008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Domain-Based Scheduling Presets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160934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SlotForge's constraint engine is fundamentally a general resource-and-time allocation system. The academic timetabling domain is its first implementation — but the same engine can power entirely different domains through configurable presets selected at onboarding.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" y="237744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2514600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2423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2606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· Subjects · Sections · Rooms · Labs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2898648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035808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" y="3127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· Departments · Shifts · Roles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" y="3419856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3557016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3465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Scheduling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" y="36484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· Halls · Sessions · Volunteers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" y="3941064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4078224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39867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" y="41696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· Technicians · Maintenance windows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02920" y="44805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SlotForge from a single-purpose timetable generator into a configurable scheduling platform.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1207008"/>
            <a:ext cx="4160520" cy="3611880"/>
          </a:xfrm>
          <a:prstGeom prst="roundRect">
            <a:avLst>
              <a:gd name="adj" fmla="val 2025"/>
            </a:avLst>
          </a:prstGeom>
          <a:solidFill>
            <a:srgbClr val="112A1A"/>
          </a:solidFill>
          <a:ln w="6350">
            <a:solidFill>
              <a:srgbClr val="1A5C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1207008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1243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Git-Style Version Control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46320" y="16093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SlotForge already stores timetables as immutable versions with draft/published/archived states. This extends into a full version comparison workflow with structured diffs and rollback safety.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230428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2416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304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669280" y="2468880"/>
            <a:ext cx="137160" cy="0"/>
          </a:xfrm>
          <a:prstGeom prst="line">
            <a:avLst/>
          </a:prstGeom>
          <a:noFill/>
          <a:ln w="6350">
            <a:solidFill>
              <a:srgbClr val="4A7A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06440" y="230428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2416"/>
          </a:solidFill>
          <a:ln w="10160">
            <a:solidFill>
              <a:srgbClr val="2D9E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2304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629400" y="2468880"/>
            <a:ext cx="137160" cy="0"/>
          </a:xfrm>
          <a:prstGeom prst="line">
            <a:avLst/>
          </a:prstGeom>
          <a:noFill/>
          <a:ln w="6350">
            <a:solidFill>
              <a:srgbClr val="4A7A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0" y="230428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2416"/>
          </a:solidFill>
          <a:ln w="10160">
            <a:solidFill>
              <a:srgbClr val="4A7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2304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589520" y="2468880"/>
            <a:ext cx="137160" cy="0"/>
          </a:xfrm>
          <a:prstGeom prst="line">
            <a:avLst/>
          </a:prstGeom>
          <a:noFill/>
          <a:ln w="6350">
            <a:solidFill>
              <a:srgbClr val="4A7A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26680" y="230428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2416"/>
          </a:solidFill>
          <a:ln w="10160">
            <a:solidFill>
              <a:srgbClr val="3DBF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26680" y="2304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818888" y="2798064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74336" y="28437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Diff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74336" y="30358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— classes changed, teachers reassigned, rooms swapped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818888" y="3328416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74336" y="33741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Score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974336" y="356616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optimization improve or regress between versions?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818888" y="385876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74336" y="39044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974336" y="40965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per version: 'capacity fix', 'staff unavailable'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818888" y="438912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0F2416"/>
          </a:solidFill>
          <a:ln w="5080">
            <a:solidFill>
              <a:srgbClr val="1A5C3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74336" y="44348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Rollback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74336" y="462686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any archived version as a new draft — original stays unmutated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846320" y="44805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timetabling tool in this category offers structured version control with diff comparison.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3281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1A5C38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7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5669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SlotForge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Proves.</a:t>
            </a:r>
            <a:endParaRPr lang="en-US" sz="4800" dirty="0"/>
          </a:p>
        </p:txBody>
      </p:sp>
      <p:sp>
        <p:nvSpPr>
          <p:cNvPr id="32" name="Shape 30"/>
          <p:cNvSpPr/>
          <p:nvPr/>
        </p:nvSpPr>
        <p:spPr>
          <a:xfrm>
            <a:off x="457200" y="1810512"/>
            <a:ext cx="8229600" cy="0"/>
          </a:xfrm>
          <a:prstGeom prst="line">
            <a:avLst/>
          </a:prstGeom>
          <a:noFill/>
          <a:ln w="6350">
            <a:solidFill>
              <a:srgbClr val="1A5C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D9E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66%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457200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institutions report reduced staff burnout after adopting digital automation tools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3101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Ed Innovation Index 2025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55848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D9E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5×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3355848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schedule generation vs. manual spreadsheet-based planning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55848" y="33101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benchmark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254496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D9E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$20K+</a:t>
            </a:r>
            <a:endParaRPr lang="en-US" sz="5200" dirty="0"/>
          </a:p>
        </p:txBody>
      </p:sp>
      <p:sp>
        <p:nvSpPr>
          <p:cNvPr id="40" name="Text 38"/>
          <p:cNvSpPr/>
          <p:nvPr/>
        </p:nvSpPr>
        <p:spPr>
          <a:xfrm>
            <a:off x="6254496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licensing cost of comparable enterprise tools like 25Live — SlotForge needs none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54496" y="33101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CollegeNET pricing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5080">
            <a:solidFill>
              <a:srgbClr val="1A5C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69417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B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SlotForge demonstrates that a well-engineered open-source constraint solver can match the core scheduling capability of tools costing tens of thousands of dollars — while adding version control, explainability, and multi-tenancy that those tools don't have. Scheduling is a solved mathematical problem. The real opportunity is in the surrounding workflow.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06640" y="3694176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63D27"/>
          </a:solidFill>
          <a:ln w="10160">
            <a:solidFill>
              <a:srgbClr val="2D9E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369417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SlotForge</a:t>
            </a:r>
            <a:endParaRPr lang="en-US" sz="7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Phase 5</a:t>
            </a:r>
            <a:endParaRPr lang="en-US" sz="7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955280" y="47731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63D27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4773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DB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SlotForge — Scheduling Platform</dc:title>
  <dc:subject>PptxGenJS Presentation</dc:subject>
  <dc:creator>PptxGenJS</dc:creator>
  <cp:lastModifiedBy>PptxGenJS</cp:lastModifiedBy>
  <cp:revision>1</cp:revision>
  <dcterms:created xsi:type="dcterms:W3CDTF">2026-07-06T18:43:34Z</dcterms:created>
  <dcterms:modified xsi:type="dcterms:W3CDTF">2026-07-06T18:43:34Z</dcterms:modified>
</cp:coreProperties>
</file>